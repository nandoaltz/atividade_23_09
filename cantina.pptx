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8DAE24E-2F12-46EF-98AC-7E15FCE5616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Slide de abertura. Apresentar o tema e os integrantes do grupo. A transição a partir daqui usa o mascote como fio condutor visual — ver notas do próximo slide para configurar o efeito de 'puxar a tela'.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B51430-0181-4849-A405-6E74C9FE61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2 — O problema" e "Slide 3 — A proposta",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69A4A-B204-4EBC-AEED-5B67E00562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3 — A proposta" e "Slide 4 — Objetivos",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BB298-1A8B-482E-A02C-8EEB16D811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4 — Objetivos" e "Slide 5 — Como funciona",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F6DAC-DB29-4A4F-8AB0-24B97E57B8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5 — Como funciona" e "Slide 6 — O diferencial: NFC",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1C94EB-3133-45D2-B2B4-0665F0F8EA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6 — O diferencial: NFC" e "Slide 7 — Regras de negócio",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E2EC30-1AC2-4A17-A9D5-D4826BD1C7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7 — Regras de negócio" e "Slide 8 — Personas",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4D48D8-36A7-4835-9B64-87E27521AA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8 — Personas" e "Slide 9 — Requisitos",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1B7ACC-9821-4358-88E0-51BE1DF1B2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9 — Requisitos" e "Slide 10 — Fluxo de retirada por NFC",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26AE65-4287-4406-9529-FCCE1633FF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10 — Fluxo de retirada por NFC" e "Slide 11 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Conclusão", o PowerPoint interpola automaticamente a posição/rotação do mascote entre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 objeto do mascote neste slide, e uma animação de entrada "Voar para dentro" (Fly In,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4F7AB7-2417-4592-9D4D-D107E7D8BA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ANIMADA (bonequinho-mascote):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Selecione esta transição no PowerPoint: aba Transições &gt;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Neste slide, o mascote (mascote_pull.png) já está na borda direita, em pose de esforço "puxando" a tela.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3) No próximo slide, o mascote (mascote_fall.png) aparece na borda esquerda, como se tivesse sido arrastado e caído para fora.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4) Com a transição Morph ativa entre "Slide 11 — Conclusão" e "Slide 12 — Obrigado", o PowerPoint interpola automaticamente a posição/rotação do mascote entre as duas poses, criando a sensação de que ele puxou a tela para revelar o próximo slide.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5) Dica extra: adicione uma animação de saída "Voar para fora" (Fly Out, para a esquerda) no objeto do mascote neste slide, e uma animação de entrada "Voar para dentro" (Fly In, da esquerda) no slide seguinte, para reforçar o efeito caso não use Morph.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66380D-902E-484F-885E-F0341B531F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Slide final. Agradecer e abrir para perguntas. O mascote 'cai' pela última vez, encerrando a brincadeira visual da apresentação.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88922-0928-4F06-A7D6-AC2DB7E308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778240" y="-2011680"/>
            <a:ext cx="5486040" cy="5486040"/>
          </a:xfrm>
          <a:prstGeom prst="ellipse">
            <a:avLst/>
          </a:prstGeom>
          <a:solidFill>
            <a:srgbClr val="0e7490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-2194560" y="4206240"/>
            <a:ext cx="4937400" cy="4937400"/>
          </a:xfrm>
          <a:prstGeom prst="ellipse">
            <a:avLst/>
          </a:prstGeom>
          <a:solidFill>
            <a:srgbClr val="ffb02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778240" y="1371600"/>
            <a:ext cx="2377080" cy="1508400"/>
          </a:xfrm>
          <a:prstGeom prst="roundRect">
            <a:avLst>
              <a:gd name="adj" fmla="val 10909"/>
            </a:avLst>
          </a:prstGeom>
          <a:solidFill>
            <a:srgbClr val="13233b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9646920" y="1783080"/>
            <a:ext cx="685440" cy="685440"/>
          </a:xfrm>
          <a:prstGeom prst="ellipse">
            <a:avLst/>
          </a:prstGeom>
          <a:noFill/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9784080" y="1920240"/>
            <a:ext cx="411120" cy="411120"/>
          </a:xfrm>
          <a:prstGeom prst="ellipse">
            <a:avLst/>
          </a:prstGeom>
          <a:noFill/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8778240" y="2697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0c3"/>
                </a:solidFill>
                <a:latin typeface="Calibri"/>
                <a:ea typeface="Calibri"/>
              </a:rPr>
              <a:t>NFC · 13,56 MHz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8580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ENGENHARIA DE SOFTWARE · REQUISITOS E ANÁLISE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85800" y="196596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5f7fa"/>
                </a:solidFill>
                <a:latin typeface="Cambria"/>
                <a:ea typeface="Cambria"/>
              </a:rPr>
              <a:t>Sistema de Agendamento e</a:t>
            </a:r>
            <a:endParaRPr b="0" lang="pt-BR" sz="4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5f7fa"/>
                </a:solidFill>
                <a:latin typeface="Cambria"/>
                <a:ea typeface="Cambria"/>
              </a:rPr>
              <a:t>Retirada de Pedidos</a:t>
            </a:r>
            <a:endParaRPr b="0" lang="pt-B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85800" y="32461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600" spc="-1" strike="noStrike">
                <a:solidFill>
                  <a:srgbClr val="22d3ee"/>
                </a:solidFill>
                <a:latin typeface="Cambria"/>
                <a:ea typeface="Cambria"/>
              </a:rPr>
              <a:t>para Cantina Escolar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713160" y="4160520"/>
            <a:ext cx="3108960" cy="360"/>
          </a:xfrm>
          <a:prstGeom prst="line">
            <a:avLst/>
          </a:prstGeom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85800" y="43434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Universidade do Vale do Rio dos Sinos — Unisinos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713160" y="4892040"/>
            <a:ext cx="82080" cy="8208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914400" y="48006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Fernando da Rosa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13160" y="5276160"/>
            <a:ext cx="82080" cy="8208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914400" y="5184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Lucas Vianna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713160" y="5660280"/>
            <a:ext cx="82080" cy="8208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914400" y="55688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Guilherme Roesler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0" descr="/home/claude/cantina/assets/mascote_idle.png"/>
          <p:cNvPicPr/>
          <p:nvPr/>
        </p:nvPicPr>
        <p:blipFill>
          <a:blip r:embed="rId1"/>
          <a:stretch/>
        </p:blipFill>
        <p:spPr>
          <a:xfrm>
            <a:off x="11225160" y="5443560"/>
            <a:ext cx="1554120" cy="181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O PROBLEMA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640080" y="777240"/>
            <a:ext cx="10789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f7fa"/>
                </a:solidFill>
                <a:latin typeface="Cambria"/>
                <a:ea typeface="Cambria"/>
              </a:rPr>
              <a:t>E se o pedido já estivesse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f7fa"/>
                </a:solidFill>
                <a:latin typeface="Cambria"/>
                <a:ea typeface="Cambria"/>
              </a:rPr>
              <a:t>pronto antes do aluno chegar?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7"/>
          <p:cNvSpPr/>
          <p:nvPr/>
        </p:nvSpPr>
        <p:spPr>
          <a:xfrm>
            <a:off x="640080" y="2468880"/>
            <a:ext cx="2541600" cy="3017160"/>
          </a:xfrm>
          <a:prstGeom prst="roundRect">
            <a:avLst>
              <a:gd name="adj" fmla="val 503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8"/>
          <p:cNvSpPr/>
          <p:nvPr/>
        </p:nvSpPr>
        <p:spPr>
          <a:xfrm>
            <a:off x="914400" y="2788920"/>
            <a:ext cx="566640" cy="56664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914400" y="2788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ambria"/>
                <a:ea typeface="Cambria"/>
              </a:rPr>
              <a:t>01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896040" y="3611880"/>
            <a:ext cx="202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f7fa"/>
                </a:solidFill>
                <a:latin typeface="Cambria"/>
                <a:ea typeface="Cambria"/>
              </a:rPr>
              <a:t>Filas no intervalo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896040" y="4251960"/>
            <a:ext cx="2029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fb0c3"/>
                </a:solidFill>
                <a:latin typeface="Calibri"/>
                <a:ea typeface="Calibri"/>
              </a:rPr>
              <a:t>Tempo curto de recreio e aglomeração no balcão da cantina.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22"/>
          <p:cNvSpPr/>
          <p:nvPr/>
        </p:nvSpPr>
        <p:spPr>
          <a:xfrm>
            <a:off x="3438000" y="2468880"/>
            <a:ext cx="2541600" cy="3017160"/>
          </a:xfrm>
          <a:prstGeom prst="roundRect">
            <a:avLst>
              <a:gd name="adj" fmla="val 503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3712320" y="2788920"/>
            <a:ext cx="566640" cy="56664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4"/>
          <p:cNvSpPr/>
          <p:nvPr/>
        </p:nvSpPr>
        <p:spPr>
          <a:xfrm>
            <a:off x="3712320" y="2788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b020"/>
                </a:solidFill>
                <a:latin typeface="Cambria"/>
                <a:ea typeface="Cambria"/>
              </a:rPr>
              <a:t>02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3694320" y="3611880"/>
            <a:ext cx="202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f7fa"/>
                </a:solidFill>
                <a:latin typeface="Cambria"/>
                <a:ea typeface="Cambria"/>
              </a:rPr>
              <a:t>Dinheiro físico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3694320" y="4251960"/>
            <a:ext cx="2029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fb0c3"/>
                </a:solidFill>
                <a:latin typeface="Calibri"/>
                <a:ea typeface="Calibri"/>
              </a:rPr>
              <a:t>Crianças de 6 a 11 anos circulando com dinheiro na mochila.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236280" y="2468880"/>
            <a:ext cx="2541600" cy="3017160"/>
          </a:xfrm>
          <a:prstGeom prst="roundRect">
            <a:avLst>
              <a:gd name="adj" fmla="val 503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8"/>
          <p:cNvSpPr/>
          <p:nvPr/>
        </p:nvSpPr>
        <p:spPr>
          <a:xfrm>
            <a:off x="6510600" y="2788920"/>
            <a:ext cx="566640" cy="56664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6510600" y="2788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ambria"/>
                <a:ea typeface="Cambria"/>
              </a:rPr>
              <a:t>03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6492240" y="3611880"/>
            <a:ext cx="202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f7fa"/>
                </a:solidFill>
                <a:latin typeface="Cambria"/>
                <a:ea typeface="Cambria"/>
              </a:rPr>
              <a:t>Pedidos desorganizados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6492240" y="4251960"/>
            <a:ext cx="2029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fb0c3"/>
                </a:solidFill>
                <a:latin typeface="Calibri"/>
                <a:ea typeface="Calibri"/>
              </a:rPr>
              <a:t>Escolha no balcão gera demora e falta de planejamento.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32"/>
          <p:cNvSpPr/>
          <p:nvPr/>
        </p:nvSpPr>
        <p:spPr>
          <a:xfrm>
            <a:off x="9034200" y="2468880"/>
            <a:ext cx="2541600" cy="3017160"/>
          </a:xfrm>
          <a:prstGeom prst="roundRect">
            <a:avLst>
              <a:gd name="adj" fmla="val 503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33"/>
          <p:cNvSpPr/>
          <p:nvPr/>
        </p:nvSpPr>
        <p:spPr>
          <a:xfrm>
            <a:off x="9308520" y="2788920"/>
            <a:ext cx="566640" cy="56664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9308520" y="2788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b020"/>
                </a:solidFill>
                <a:latin typeface="Cambria"/>
                <a:ea typeface="Cambria"/>
              </a:rPr>
              <a:t>04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5"/>
          <p:cNvSpPr/>
          <p:nvPr/>
        </p:nvSpPr>
        <p:spPr>
          <a:xfrm>
            <a:off x="9290160" y="3611880"/>
            <a:ext cx="202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f7fa"/>
                </a:solidFill>
                <a:latin typeface="Cambria"/>
                <a:ea typeface="Cambria"/>
              </a:rPr>
              <a:t>Erros na entrega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6"/>
          <p:cNvSpPr/>
          <p:nvPr/>
        </p:nvSpPr>
        <p:spPr>
          <a:xfrm>
            <a:off x="9290160" y="4251960"/>
            <a:ext cx="2029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fb0c3"/>
                </a:solidFill>
                <a:latin typeface="Calibri"/>
                <a:ea typeface="Calibri"/>
              </a:rPr>
              <a:t>Trocas e enganos por falta de identificação do pedido.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11282040" y="5526720"/>
            <a:ext cx="1462680" cy="1706400"/>
          </a:xfrm>
          <a:prstGeom prst="rect">
            <a:avLst/>
          </a:prstGeom>
          <a:ln w="0">
            <a:noFill/>
          </a:ln>
        </p:spPr>
      </p:pic>
      <p:sp>
        <p:nvSpPr>
          <p:cNvPr id="79" name="Text 37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A PROPOSTA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640080" y="777240"/>
            <a:ext cx="10789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Um aplicativo que organiza 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pedido antes do intervalo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7"/>
          <p:cNvSpPr/>
          <p:nvPr/>
        </p:nvSpPr>
        <p:spPr>
          <a:xfrm>
            <a:off x="640080" y="2331720"/>
            <a:ext cx="5943240" cy="658080"/>
          </a:xfrm>
          <a:prstGeom prst="roundRect">
            <a:avLst>
              <a:gd name="adj" fmla="val 13889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822960" y="246888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822960" y="246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mbria"/>
                <a:ea typeface="Cambria"/>
              </a:rPr>
              <a:t>1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1371600" y="2331720"/>
            <a:ext cx="5074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Pedido antecipado pelo responsável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1"/>
          <p:cNvSpPr/>
          <p:nvPr/>
        </p:nvSpPr>
        <p:spPr>
          <a:xfrm>
            <a:off x="640080" y="3117960"/>
            <a:ext cx="5943240" cy="658080"/>
          </a:xfrm>
          <a:prstGeom prst="roundRect">
            <a:avLst>
              <a:gd name="adj" fmla="val 13889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22"/>
          <p:cNvSpPr/>
          <p:nvPr/>
        </p:nvSpPr>
        <p:spPr>
          <a:xfrm>
            <a:off x="822960" y="32551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822960" y="3255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mbria"/>
                <a:ea typeface="Cambria"/>
              </a:rPr>
              <a:t>2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4"/>
          <p:cNvSpPr/>
          <p:nvPr/>
        </p:nvSpPr>
        <p:spPr>
          <a:xfrm>
            <a:off x="1371600" y="3117960"/>
            <a:ext cx="5074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Sistema de créditos por recarga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25"/>
          <p:cNvSpPr/>
          <p:nvPr/>
        </p:nvSpPr>
        <p:spPr>
          <a:xfrm>
            <a:off x="640080" y="3904560"/>
            <a:ext cx="5943240" cy="658080"/>
          </a:xfrm>
          <a:prstGeom prst="roundRect">
            <a:avLst>
              <a:gd name="adj" fmla="val 13889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6"/>
          <p:cNvSpPr/>
          <p:nvPr/>
        </p:nvSpPr>
        <p:spPr>
          <a:xfrm>
            <a:off x="822960" y="40417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7"/>
          <p:cNvSpPr/>
          <p:nvPr/>
        </p:nvSpPr>
        <p:spPr>
          <a:xfrm>
            <a:off x="822960" y="4041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mbria"/>
                <a:ea typeface="Cambria"/>
              </a:rPr>
              <a:t>3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1371600" y="3904560"/>
            <a:ext cx="5074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Escolha dos produtos no cardápio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9"/>
          <p:cNvSpPr/>
          <p:nvPr/>
        </p:nvSpPr>
        <p:spPr>
          <a:xfrm>
            <a:off x="640080" y="4690800"/>
            <a:ext cx="5943240" cy="658080"/>
          </a:xfrm>
          <a:prstGeom prst="roundRect">
            <a:avLst>
              <a:gd name="adj" fmla="val 13889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0"/>
          <p:cNvSpPr/>
          <p:nvPr/>
        </p:nvSpPr>
        <p:spPr>
          <a:xfrm>
            <a:off x="822960" y="482796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822960" y="4827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mbria"/>
                <a:ea typeface="Cambria"/>
              </a:rPr>
              <a:t>4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32"/>
          <p:cNvSpPr/>
          <p:nvPr/>
        </p:nvSpPr>
        <p:spPr>
          <a:xfrm>
            <a:off x="1371600" y="4690800"/>
            <a:ext cx="5074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Agendamento do horário de retirada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3"/>
          <p:cNvSpPr/>
          <p:nvPr/>
        </p:nvSpPr>
        <p:spPr>
          <a:xfrm>
            <a:off x="640080" y="5477400"/>
            <a:ext cx="5943240" cy="658080"/>
          </a:xfrm>
          <a:prstGeom prst="roundRect">
            <a:avLst>
              <a:gd name="adj" fmla="val 13889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822960" y="561456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5"/>
          <p:cNvSpPr/>
          <p:nvPr/>
        </p:nvSpPr>
        <p:spPr>
          <a:xfrm>
            <a:off x="822960" y="5614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mbria"/>
                <a:ea typeface="Cambria"/>
              </a:rPr>
              <a:t>5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6"/>
          <p:cNvSpPr/>
          <p:nvPr/>
        </p:nvSpPr>
        <p:spPr>
          <a:xfrm>
            <a:off x="1371600" y="5477400"/>
            <a:ext cx="5074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Identificação do aluno por NFC/RFID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37"/>
          <p:cNvSpPr/>
          <p:nvPr/>
        </p:nvSpPr>
        <p:spPr>
          <a:xfrm>
            <a:off x="7315200" y="2148840"/>
            <a:ext cx="4205880" cy="411444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254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38"/>
          <p:cNvSpPr/>
          <p:nvPr/>
        </p:nvSpPr>
        <p:spPr>
          <a:xfrm>
            <a:off x="7543800" y="2423160"/>
            <a:ext cx="3748680" cy="502560"/>
          </a:xfrm>
          <a:prstGeom prst="roundRect">
            <a:avLst>
              <a:gd name="adj" fmla="val 1818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9"/>
          <p:cNvSpPr/>
          <p:nvPr/>
        </p:nvSpPr>
        <p:spPr>
          <a:xfrm>
            <a:off x="7726680" y="242316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f7fa"/>
                </a:solidFill>
                <a:latin typeface="Calibri"/>
                <a:ea typeface="Calibri"/>
              </a:rPr>
              <a:t>Cardápio de hoje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40"/>
          <p:cNvSpPr/>
          <p:nvPr/>
        </p:nvSpPr>
        <p:spPr>
          <a:xfrm>
            <a:off x="7543800" y="3108960"/>
            <a:ext cx="3748680" cy="456840"/>
          </a:xfrm>
          <a:prstGeom prst="roundRect">
            <a:avLst>
              <a:gd name="adj" fmla="val 16000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41"/>
          <p:cNvSpPr/>
          <p:nvPr/>
        </p:nvSpPr>
        <p:spPr>
          <a:xfrm>
            <a:off x="7680960" y="3200400"/>
            <a:ext cx="273960" cy="27396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42"/>
          <p:cNvSpPr/>
          <p:nvPr/>
        </p:nvSpPr>
        <p:spPr>
          <a:xfrm>
            <a:off x="8092440" y="3108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5f7fa"/>
                </a:solidFill>
                <a:latin typeface="Calibri"/>
                <a:ea typeface="Calibri"/>
              </a:rPr>
              <a:t>Lanche natural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43"/>
          <p:cNvSpPr/>
          <p:nvPr/>
        </p:nvSpPr>
        <p:spPr>
          <a:xfrm>
            <a:off x="7543800" y="3675960"/>
            <a:ext cx="3748680" cy="456840"/>
          </a:xfrm>
          <a:prstGeom prst="roundRect">
            <a:avLst>
              <a:gd name="adj" fmla="val 16000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44"/>
          <p:cNvSpPr/>
          <p:nvPr/>
        </p:nvSpPr>
        <p:spPr>
          <a:xfrm>
            <a:off x="7680960" y="3767400"/>
            <a:ext cx="273960" cy="27396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5"/>
          <p:cNvSpPr/>
          <p:nvPr/>
        </p:nvSpPr>
        <p:spPr>
          <a:xfrm>
            <a:off x="8092440" y="367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5f7fa"/>
                </a:solidFill>
                <a:latin typeface="Calibri"/>
                <a:ea typeface="Calibri"/>
              </a:rPr>
              <a:t>Suco de fruta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46"/>
          <p:cNvSpPr/>
          <p:nvPr/>
        </p:nvSpPr>
        <p:spPr>
          <a:xfrm>
            <a:off x="7543800" y="4242960"/>
            <a:ext cx="3748680" cy="456840"/>
          </a:xfrm>
          <a:prstGeom prst="roundRect">
            <a:avLst>
              <a:gd name="adj" fmla="val 16000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47"/>
          <p:cNvSpPr/>
          <p:nvPr/>
        </p:nvSpPr>
        <p:spPr>
          <a:xfrm>
            <a:off x="7680960" y="4334400"/>
            <a:ext cx="273960" cy="27396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8"/>
          <p:cNvSpPr/>
          <p:nvPr/>
        </p:nvSpPr>
        <p:spPr>
          <a:xfrm>
            <a:off x="8092440" y="4242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5f7fa"/>
                </a:solidFill>
                <a:latin typeface="Calibri"/>
                <a:ea typeface="Calibri"/>
              </a:rPr>
              <a:t>Sanduíche integral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49"/>
          <p:cNvSpPr/>
          <p:nvPr/>
        </p:nvSpPr>
        <p:spPr>
          <a:xfrm>
            <a:off x="7543800" y="4937760"/>
            <a:ext cx="3748680" cy="502560"/>
          </a:xfrm>
          <a:prstGeom prst="roundRect">
            <a:avLst>
              <a:gd name="adj" fmla="val 21818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50"/>
          <p:cNvSpPr/>
          <p:nvPr/>
        </p:nvSpPr>
        <p:spPr>
          <a:xfrm>
            <a:off x="7543800" y="49377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220"/>
                </a:solidFill>
                <a:latin typeface="Calibri"/>
                <a:ea typeface="Calibri"/>
              </a:rPr>
              <a:t>Agendar retirada — 12h20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51"/>
          <p:cNvSpPr/>
          <p:nvPr/>
        </p:nvSpPr>
        <p:spPr>
          <a:xfrm>
            <a:off x="7543800" y="5577840"/>
            <a:ext cx="3748680" cy="502560"/>
          </a:xfrm>
          <a:prstGeom prst="roundRect">
            <a:avLst>
              <a:gd name="adj" fmla="val 21818"/>
            </a:avLst>
          </a:prstGeom>
          <a:noFill/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52"/>
          <p:cNvSpPr/>
          <p:nvPr/>
        </p:nvSpPr>
        <p:spPr>
          <a:xfrm>
            <a:off x="7543800" y="55778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b020"/>
                </a:solidFill>
                <a:latin typeface="Calibri"/>
                <a:ea typeface="Calibri"/>
              </a:rPr>
              <a:t>Saldo: R$ 32,50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0" descr="/home/claude/cantina/assets/mascote_idle.png"/>
          <p:cNvPicPr/>
          <p:nvPr/>
        </p:nvPicPr>
        <p:blipFill>
          <a:blip r:embed="rId1"/>
          <a:stretch/>
        </p:blipFill>
        <p:spPr>
          <a:xfrm>
            <a:off x="-320040" y="5715000"/>
            <a:ext cx="1005480" cy="1173240"/>
          </a:xfrm>
          <a:prstGeom prst="rect">
            <a:avLst/>
          </a:prstGeom>
          <a:ln w="0">
            <a:noFill/>
          </a:ln>
        </p:spPr>
      </p:pic>
      <p:sp>
        <p:nvSpPr>
          <p:cNvPr id="134" name="Text 53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03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OBJETIVOS DO SISTEMA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Cambria"/>
                <a:ea typeface="Cambria"/>
              </a:rPr>
              <a:t>O que queremos resolver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640080" y="2377440"/>
            <a:ext cx="3565800" cy="1554120"/>
          </a:xfrm>
          <a:prstGeom prst="roundRect">
            <a:avLst>
              <a:gd name="adj" fmla="val 8235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896040" y="2633400"/>
            <a:ext cx="502560" cy="50256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9"/>
          <p:cNvSpPr/>
          <p:nvPr/>
        </p:nvSpPr>
        <p:spPr>
          <a:xfrm>
            <a:off x="1042560" y="2779920"/>
            <a:ext cx="209880" cy="2098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1554480" y="256032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Reduzir filas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1"/>
          <p:cNvSpPr/>
          <p:nvPr/>
        </p:nvSpPr>
        <p:spPr>
          <a:xfrm>
            <a:off x="4434840" y="2377440"/>
            <a:ext cx="3565800" cy="1554120"/>
          </a:xfrm>
          <a:prstGeom prst="roundRect">
            <a:avLst>
              <a:gd name="adj" fmla="val 8235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22"/>
          <p:cNvSpPr/>
          <p:nvPr/>
        </p:nvSpPr>
        <p:spPr>
          <a:xfrm>
            <a:off x="4690800" y="2633400"/>
            <a:ext cx="502560" cy="50256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3"/>
          <p:cNvSpPr/>
          <p:nvPr/>
        </p:nvSpPr>
        <p:spPr>
          <a:xfrm>
            <a:off x="4837320" y="2779920"/>
            <a:ext cx="209880" cy="20988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4"/>
          <p:cNvSpPr/>
          <p:nvPr/>
        </p:nvSpPr>
        <p:spPr>
          <a:xfrm>
            <a:off x="5349240" y="256032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Facilitar o planejamento da cantina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25"/>
          <p:cNvSpPr/>
          <p:nvPr/>
        </p:nvSpPr>
        <p:spPr>
          <a:xfrm>
            <a:off x="8229600" y="2377440"/>
            <a:ext cx="3565800" cy="1554120"/>
          </a:xfrm>
          <a:prstGeom prst="roundRect">
            <a:avLst>
              <a:gd name="adj" fmla="val 8235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8485560" y="2633400"/>
            <a:ext cx="502560" cy="50256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7"/>
          <p:cNvSpPr/>
          <p:nvPr/>
        </p:nvSpPr>
        <p:spPr>
          <a:xfrm>
            <a:off x="8632080" y="2779920"/>
            <a:ext cx="209880" cy="2098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8"/>
          <p:cNvSpPr/>
          <p:nvPr/>
        </p:nvSpPr>
        <p:spPr>
          <a:xfrm>
            <a:off x="9144000" y="256032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Dar controle aos responsáveis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29"/>
          <p:cNvSpPr/>
          <p:nvPr/>
        </p:nvSpPr>
        <p:spPr>
          <a:xfrm>
            <a:off x="640080" y="4206240"/>
            <a:ext cx="3565800" cy="1554120"/>
          </a:xfrm>
          <a:prstGeom prst="roundRect">
            <a:avLst>
              <a:gd name="adj" fmla="val 8235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30"/>
          <p:cNvSpPr/>
          <p:nvPr/>
        </p:nvSpPr>
        <p:spPr>
          <a:xfrm>
            <a:off x="896040" y="4462200"/>
            <a:ext cx="502560" cy="50256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1"/>
          <p:cNvSpPr/>
          <p:nvPr/>
        </p:nvSpPr>
        <p:spPr>
          <a:xfrm>
            <a:off x="1042560" y="4608720"/>
            <a:ext cx="209880" cy="20988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2"/>
          <p:cNvSpPr/>
          <p:nvPr/>
        </p:nvSpPr>
        <p:spPr>
          <a:xfrm>
            <a:off x="1554480" y="438912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Evitar dinheiro físico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33"/>
          <p:cNvSpPr/>
          <p:nvPr/>
        </p:nvSpPr>
        <p:spPr>
          <a:xfrm>
            <a:off x="4434840" y="4206240"/>
            <a:ext cx="3565800" cy="1554120"/>
          </a:xfrm>
          <a:prstGeom prst="roundRect">
            <a:avLst>
              <a:gd name="adj" fmla="val 8235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34"/>
          <p:cNvSpPr/>
          <p:nvPr/>
        </p:nvSpPr>
        <p:spPr>
          <a:xfrm>
            <a:off x="4690800" y="4462200"/>
            <a:ext cx="502560" cy="502560"/>
          </a:xfrm>
          <a:prstGeom prst="ellipse">
            <a:avLst/>
          </a:prstGeom>
          <a:solidFill>
            <a:srgbClr val="0f1b2e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5"/>
          <p:cNvSpPr/>
          <p:nvPr/>
        </p:nvSpPr>
        <p:spPr>
          <a:xfrm>
            <a:off x="4837320" y="4608720"/>
            <a:ext cx="209880" cy="20988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6"/>
          <p:cNvSpPr/>
          <p:nvPr/>
        </p:nvSpPr>
        <p:spPr>
          <a:xfrm>
            <a:off x="5349240" y="438912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Reduzir erros na entrega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11338560" y="5609880"/>
            <a:ext cx="1371240" cy="1599840"/>
          </a:xfrm>
          <a:prstGeom prst="rect">
            <a:avLst/>
          </a:prstGeom>
          <a:ln w="0">
            <a:noFill/>
          </a:ln>
        </p:spPr>
      </p:pic>
      <p:sp>
        <p:nvSpPr>
          <p:cNvPr id="173" name="Text 37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04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COMO FUNCIONA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640080" y="77724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Do responsável à retirada, em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seis etapas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74520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74520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1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81828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RESPONSÁVEL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2441520" y="4064400"/>
            <a:ext cx="200880" cy="23724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254664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2"/>
          <p:cNvSpPr/>
          <p:nvPr/>
        </p:nvSpPr>
        <p:spPr>
          <a:xfrm>
            <a:off x="254664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2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261972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CRÉDITOS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4242960" y="4064400"/>
            <a:ext cx="200880" cy="23724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434808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434808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3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442116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PEDIDO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8"/>
          <p:cNvSpPr/>
          <p:nvPr/>
        </p:nvSpPr>
        <p:spPr>
          <a:xfrm>
            <a:off x="6044040" y="4064400"/>
            <a:ext cx="200880" cy="23724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614952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0"/>
          <p:cNvSpPr/>
          <p:nvPr/>
        </p:nvSpPr>
        <p:spPr>
          <a:xfrm>
            <a:off x="614952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4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1"/>
          <p:cNvSpPr/>
          <p:nvPr/>
        </p:nvSpPr>
        <p:spPr>
          <a:xfrm>
            <a:off x="622260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AGENDAMENTO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2"/>
          <p:cNvSpPr/>
          <p:nvPr/>
        </p:nvSpPr>
        <p:spPr>
          <a:xfrm>
            <a:off x="7845480" y="4064400"/>
            <a:ext cx="200880" cy="23724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3"/>
          <p:cNvSpPr/>
          <p:nvPr/>
        </p:nvSpPr>
        <p:spPr>
          <a:xfrm>
            <a:off x="795060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4"/>
          <p:cNvSpPr/>
          <p:nvPr/>
        </p:nvSpPr>
        <p:spPr>
          <a:xfrm>
            <a:off x="795060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5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5"/>
          <p:cNvSpPr/>
          <p:nvPr/>
        </p:nvSpPr>
        <p:spPr>
          <a:xfrm>
            <a:off x="802404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NFC/RFID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6"/>
          <p:cNvSpPr/>
          <p:nvPr/>
        </p:nvSpPr>
        <p:spPr>
          <a:xfrm>
            <a:off x="9646920" y="4064400"/>
            <a:ext cx="200880" cy="23724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7"/>
          <p:cNvSpPr/>
          <p:nvPr/>
        </p:nvSpPr>
        <p:spPr>
          <a:xfrm>
            <a:off x="9752040" y="3566160"/>
            <a:ext cx="1691280" cy="1234080"/>
          </a:xfrm>
          <a:prstGeom prst="roundRect">
            <a:avLst>
              <a:gd name="adj" fmla="val 8889"/>
            </a:avLst>
          </a:prstGeom>
          <a:solidFill>
            <a:srgbClr val="13233b"/>
          </a:solidFill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38"/>
          <p:cNvSpPr/>
          <p:nvPr/>
        </p:nvSpPr>
        <p:spPr>
          <a:xfrm>
            <a:off x="9752040" y="36576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020"/>
                </a:solidFill>
                <a:latin typeface="Cambria"/>
                <a:ea typeface="Cambria"/>
              </a:rPr>
              <a:t>6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9"/>
          <p:cNvSpPr/>
          <p:nvPr/>
        </p:nvSpPr>
        <p:spPr>
          <a:xfrm>
            <a:off x="9825120" y="3977640"/>
            <a:ext cx="15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f7fa"/>
                </a:solidFill>
                <a:latin typeface="Calibri"/>
                <a:ea typeface="Calibri"/>
              </a:rPr>
              <a:t>RETIRADA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0"/>
          <p:cNvSpPr/>
          <p:nvPr/>
        </p:nvSpPr>
        <p:spPr>
          <a:xfrm>
            <a:off x="822960" y="521208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0c3"/>
                </a:solidFill>
                <a:latin typeface="Calibri"/>
                <a:ea typeface="Calibri"/>
              </a:rPr>
              <a:t>Um único fluxo conecta o pagamento, a escolha do lanche e a retirada segura na cantina.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" name="Image 0" descr="/home/claude/cantina/assets/mascote_idle.png"/>
          <p:cNvPicPr/>
          <p:nvPr/>
        </p:nvPicPr>
        <p:blipFill>
          <a:blip r:embed="rId1"/>
          <a:stretch/>
        </p:blipFill>
        <p:spPr>
          <a:xfrm>
            <a:off x="11338560" y="5609880"/>
            <a:ext cx="1371240" cy="1599840"/>
          </a:xfrm>
          <a:prstGeom prst="rect">
            <a:avLst/>
          </a:prstGeom>
          <a:ln w="0">
            <a:noFill/>
          </a:ln>
        </p:spPr>
      </p:pic>
      <p:sp>
        <p:nvSpPr>
          <p:cNvPr id="216" name="Text 41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O DIFERENCIAL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Identificação do aluno por NFC/RFID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7"/>
          <p:cNvSpPr/>
          <p:nvPr/>
        </p:nvSpPr>
        <p:spPr>
          <a:xfrm>
            <a:off x="685800" y="2414160"/>
            <a:ext cx="127800" cy="12780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8"/>
          <p:cNvSpPr/>
          <p:nvPr/>
        </p:nvSpPr>
        <p:spPr>
          <a:xfrm>
            <a:off x="960120" y="22586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Etiqueta NFC/RFID NTAG213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9"/>
          <p:cNvSpPr/>
          <p:nvPr/>
        </p:nvSpPr>
        <p:spPr>
          <a:xfrm>
            <a:off x="685800" y="2980800"/>
            <a:ext cx="127800" cy="12780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0"/>
          <p:cNvSpPr/>
          <p:nvPr/>
        </p:nvSpPr>
        <p:spPr>
          <a:xfrm>
            <a:off x="960120" y="28256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Frequência de 13,56 MHz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21"/>
          <p:cNvSpPr/>
          <p:nvPr/>
        </p:nvSpPr>
        <p:spPr>
          <a:xfrm>
            <a:off x="685800" y="3547800"/>
            <a:ext cx="127800" cy="12780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2"/>
          <p:cNvSpPr/>
          <p:nvPr/>
        </p:nvSpPr>
        <p:spPr>
          <a:xfrm>
            <a:off x="960120" y="33922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Funciona como identificador do aluno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3"/>
          <p:cNvSpPr/>
          <p:nvPr/>
        </p:nvSpPr>
        <p:spPr>
          <a:xfrm>
            <a:off x="685800" y="4114800"/>
            <a:ext cx="127800" cy="12780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4"/>
          <p:cNvSpPr/>
          <p:nvPr/>
        </p:nvSpPr>
        <p:spPr>
          <a:xfrm>
            <a:off x="960120" y="39592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O pedido fica armazenado no sistema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685800" y="4681800"/>
            <a:ext cx="127800" cy="12780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6"/>
          <p:cNvSpPr/>
          <p:nvPr/>
        </p:nvSpPr>
        <p:spPr>
          <a:xfrm>
            <a:off x="960120" y="45262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5f7fa"/>
                </a:solidFill>
                <a:latin typeface="Calibri"/>
                <a:ea typeface="Calibri"/>
              </a:rPr>
              <a:t>O mesmo cartão serve para vários pedidos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7"/>
          <p:cNvSpPr/>
          <p:nvPr/>
        </p:nvSpPr>
        <p:spPr>
          <a:xfrm>
            <a:off x="7223760" y="1554480"/>
            <a:ext cx="4023000" cy="4023000"/>
          </a:xfrm>
          <a:prstGeom prst="ellipse">
            <a:avLst/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8"/>
          <p:cNvSpPr/>
          <p:nvPr/>
        </p:nvSpPr>
        <p:spPr>
          <a:xfrm>
            <a:off x="7863840" y="2194560"/>
            <a:ext cx="2742840" cy="2742840"/>
          </a:xfrm>
          <a:prstGeom prst="arc">
            <a:avLst>
              <a:gd name="adj1" fmla="val -2700000"/>
              <a:gd name="adj2" fmla="val 2700000"/>
            </a:avLst>
          </a:prstGeom>
          <a:noFill/>
          <a:ln w="508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29"/>
          <p:cNvSpPr/>
          <p:nvPr/>
        </p:nvSpPr>
        <p:spPr>
          <a:xfrm>
            <a:off x="8321040" y="2651760"/>
            <a:ext cx="1828440" cy="1828440"/>
          </a:xfrm>
          <a:prstGeom prst="arc">
            <a:avLst>
              <a:gd name="adj1" fmla="val -2700000"/>
              <a:gd name="adj2" fmla="val 2700000"/>
            </a:avLst>
          </a:prstGeom>
          <a:noFill/>
          <a:ln w="508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30"/>
          <p:cNvSpPr/>
          <p:nvPr/>
        </p:nvSpPr>
        <p:spPr>
          <a:xfrm>
            <a:off x="8778240" y="3108960"/>
            <a:ext cx="914040" cy="914040"/>
          </a:xfrm>
          <a:prstGeom prst="arc">
            <a:avLst>
              <a:gd name="adj1" fmla="val -2700000"/>
              <a:gd name="adj2" fmla="val 2700000"/>
            </a:avLst>
          </a:prstGeom>
          <a:noFill/>
          <a:ln w="508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1"/>
          <p:cNvSpPr/>
          <p:nvPr/>
        </p:nvSpPr>
        <p:spPr>
          <a:xfrm>
            <a:off x="8942760" y="3364920"/>
            <a:ext cx="585000" cy="40212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32"/>
          <p:cNvSpPr/>
          <p:nvPr/>
        </p:nvSpPr>
        <p:spPr>
          <a:xfrm>
            <a:off x="640080" y="562356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Etiqueta NFC  →  Identificador do aluno  →  Sistema  →  Pedido  →  Retirada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0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-274320" y="5760720"/>
            <a:ext cx="1188360" cy="1386360"/>
          </a:xfrm>
          <a:prstGeom prst="rect">
            <a:avLst/>
          </a:prstGeom>
          <a:ln w="0">
            <a:noFill/>
          </a:ln>
        </p:spPr>
      </p:pic>
      <p:sp>
        <p:nvSpPr>
          <p:cNvPr id="251" name="Text 33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REGRAS DE NEGÓCIO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640080" y="77724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O que garante o funcionamento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do sistema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7"/>
          <p:cNvSpPr/>
          <p:nvPr/>
        </p:nvSpPr>
        <p:spPr>
          <a:xfrm>
            <a:off x="640080" y="2331720"/>
            <a:ext cx="5394600" cy="566640"/>
          </a:xfrm>
          <a:prstGeom prst="roundRect">
            <a:avLst>
              <a:gd name="adj" fmla="val 12903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8"/>
          <p:cNvSpPr/>
          <p:nvPr/>
        </p:nvSpPr>
        <p:spPr>
          <a:xfrm>
            <a:off x="868680" y="233172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f7fa"/>
                </a:solidFill>
                <a:latin typeface="Calibri"/>
                <a:ea typeface="Calibri"/>
              </a:rPr>
              <a:t>Somente responsáveis realizam pedidos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9"/>
          <p:cNvSpPr/>
          <p:nvPr/>
        </p:nvSpPr>
        <p:spPr>
          <a:xfrm>
            <a:off x="640080" y="3026520"/>
            <a:ext cx="5394600" cy="566640"/>
          </a:xfrm>
          <a:prstGeom prst="roundRect">
            <a:avLst>
              <a:gd name="adj" fmla="val 12903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0"/>
          <p:cNvSpPr/>
          <p:nvPr/>
        </p:nvSpPr>
        <p:spPr>
          <a:xfrm>
            <a:off x="868680" y="302652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f7fa"/>
                </a:solidFill>
                <a:latin typeface="Calibri"/>
                <a:ea typeface="Calibri"/>
              </a:rPr>
              <a:t>O saldo em créditos precisa ser suficiente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1"/>
          <p:cNvSpPr/>
          <p:nvPr/>
        </p:nvSpPr>
        <p:spPr>
          <a:xfrm>
            <a:off x="640080" y="3721680"/>
            <a:ext cx="5394600" cy="566640"/>
          </a:xfrm>
          <a:prstGeom prst="roundRect">
            <a:avLst>
              <a:gd name="adj" fmla="val 12903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2"/>
          <p:cNvSpPr/>
          <p:nvPr/>
        </p:nvSpPr>
        <p:spPr>
          <a:xfrm>
            <a:off x="868680" y="372168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f7fa"/>
                </a:solidFill>
                <a:latin typeface="Calibri"/>
                <a:ea typeface="Calibri"/>
              </a:rPr>
              <a:t>Funcionário confirma a retirada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23"/>
          <p:cNvSpPr/>
          <p:nvPr/>
        </p:nvSpPr>
        <p:spPr>
          <a:xfrm>
            <a:off x="640080" y="4416480"/>
            <a:ext cx="5394600" cy="566640"/>
          </a:xfrm>
          <a:prstGeom prst="roundRect">
            <a:avLst>
              <a:gd name="adj" fmla="val 12903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4"/>
          <p:cNvSpPr/>
          <p:nvPr/>
        </p:nvSpPr>
        <p:spPr>
          <a:xfrm>
            <a:off x="868680" y="441648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f7fa"/>
                </a:solidFill>
                <a:latin typeface="Calibri"/>
                <a:ea typeface="Calibri"/>
              </a:rPr>
              <a:t>Pedido retirado não pode ser retirado de novo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5"/>
          <p:cNvSpPr/>
          <p:nvPr/>
        </p:nvSpPr>
        <p:spPr>
          <a:xfrm>
            <a:off x="6492240" y="2194560"/>
            <a:ext cx="5028840" cy="3748680"/>
          </a:xfrm>
          <a:prstGeom prst="roundRect">
            <a:avLst>
              <a:gd name="adj" fmla="val 4878"/>
            </a:avLst>
          </a:prstGeom>
          <a:solidFill>
            <a:srgbClr val="0f1b2e"/>
          </a:solidFill>
          <a:ln w="317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6"/>
          <p:cNvSpPr/>
          <p:nvPr/>
        </p:nvSpPr>
        <p:spPr>
          <a:xfrm>
            <a:off x="6766560" y="2468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ffb020"/>
                </a:solidFill>
                <a:latin typeface="Calibri"/>
                <a:ea typeface="Calibri"/>
              </a:rPr>
              <a:t>REGRA DE CANCELAMENTO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7"/>
          <p:cNvSpPr/>
          <p:nvPr/>
        </p:nvSpPr>
        <p:spPr>
          <a:xfrm>
            <a:off x="6766560" y="288036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5f7fa"/>
                </a:solidFill>
                <a:latin typeface="Cambria"/>
                <a:ea typeface="Cambria"/>
              </a:rPr>
              <a:t>4 horas</a:t>
            </a:r>
            <a:endParaRPr b="0" lang="pt-BR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8"/>
          <p:cNvSpPr/>
          <p:nvPr/>
        </p:nvSpPr>
        <p:spPr>
          <a:xfrm>
            <a:off x="6766560" y="406908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fb0c3"/>
                </a:solidFill>
                <a:latin typeface="Calibri"/>
                <a:ea typeface="Calibri"/>
              </a:rPr>
              <a:t>de antecedência mínima para cancelar um pedido agendado.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29"/>
          <p:cNvSpPr/>
          <p:nvPr/>
        </p:nvSpPr>
        <p:spPr>
          <a:xfrm>
            <a:off x="6766560" y="5074920"/>
            <a:ext cx="4480560" cy="360"/>
          </a:xfrm>
          <a:prstGeom prst="line">
            <a:avLst/>
          </a:prstGeom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0"/>
          <p:cNvSpPr/>
          <p:nvPr/>
        </p:nvSpPr>
        <p:spPr>
          <a:xfrm>
            <a:off x="6766560" y="521208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fb0c3"/>
                </a:solidFill>
                <a:latin typeface="Calibri"/>
                <a:ea typeface="Calibri"/>
              </a:rPr>
              <a:t>Com menos de 4h, o cancelamento é bloqueado pelo sistema.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Image 0" descr="/home/claude/cantina/assets/mascote_idle.png"/>
          <p:cNvPicPr/>
          <p:nvPr/>
        </p:nvPicPr>
        <p:blipFill>
          <a:blip r:embed="rId1"/>
          <a:stretch/>
        </p:blipFill>
        <p:spPr>
          <a:xfrm>
            <a:off x="274320" y="5486400"/>
            <a:ext cx="1279800" cy="1493280"/>
          </a:xfrm>
          <a:prstGeom prst="rect">
            <a:avLst/>
          </a:prstGeom>
          <a:ln w="0">
            <a:noFill/>
          </a:ln>
        </p:spPr>
      </p:pic>
      <p:sp>
        <p:nvSpPr>
          <p:cNvPr id="284" name="Text 31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07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PERSONAS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Cambria"/>
                <a:ea typeface="Cambria"/>
              </a:rPr>
              <a:t>Quem usa o sistema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7"/>
          <p:cNvSpPr/>
          <p:nvPr/>
        </p:nvSpPr>
        <p:spPr>
          <a:xfrm>
            <a:off x="640080" y="2331720"/>
            <a:ext cx="2605680" cy="3291480"/>
          </a:xfrm>
          <a:prstGeom prst="roundRect">
            <a:avLst>
              <a:gd name="adj" fmla="val 5614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8"/>
          <p:cNvSpPr/>
          <p:nvPr/>
        </p:nvSpPr>
        <p:spPr>
          <a:xfrm>
            <a:off x="1440360" y="2606040"/>
            <a:ext cx="1005480" cy="1005480"/>
          </a:xfrm>
          <a:prstGeom prst="ellipse">
            <a:avLst/>
          </a:prstGeom>
          <a:solidFill>
            <a:srgbClr val="0f1b2e"/>
          </a:solidFill>
          <a:ln w="317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1686960" y="2788920"/>
            <a:ext cx="511560" cy="51156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77724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5f7fa"/>
                </a:solidFill>
                <a:latin typeface="Cambria"/>
                <a:ea typeface="Cambria"/>
              </a:rPr>
              <a:t>Responsável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777240" y="42519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2"/>
          <p:cNvSpPr/>
          <p:nvPr/>
        </p:nvSpPr>
        <p:spPr>
          <a:xfrm>
            <a:off x="822960" y="466344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fb0c3"/>
                </a:solidFill>
                <a:latin typeface="Calibri"/>
                <a:ea typeface="Calibri"/>
              </a:rPr>
              <a:t>Agendar pedidos e controlar o saldo do filho.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3447360" y="2331720"/>
            <a:ext cx="2605680" cy="3291480"/>
          </a:xfrm>
          <a:prstGeom prst="roundRect">
            <a:avLst>
              <a:gd name="adj" fmla="val 5614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4247280" y="2606040"/>
            <a:ext cx="1005480" cy="1005480"/>
          </a:xfrm>
          <a:prstGeom prst="ellipse">
            <a:avLst/>
          </a:prstGeom>
          <a:solidFill>
            <a:srgbClr val="0f1b2e"/>
          </a:solidFill>
          <a:ln w="317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4494240" y="2788920"/>
            <a:ext cx="511560" cy="51156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358452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5f7fa"/>
                </a:solidFill>
                <a:latin typeface="Cambria"/>
                <a:ea typeface="Cambria"/>
              </a:rPr>
              <a:t>Funcionário da cantina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7"/>
          <p:cNvSpPr/>
          <p:nvPr/>
        </p:nvSpPr>
        <p:spPr>
          <a:xfrm>
            <a:off x="3584520" y="42519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8"/>
          <p:cNvSpPr/>
          <p:nvPr/>
        </p:nvSpPr>
        <p:spPr>
          <a:xfrm>
            <a:off x="3630240" y="466344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fb0c3"/>
                </a:solidFill>
                <a:latin typeface="Calibri"/>
                <a:ea typeface="Calibri"/>
              </a:rPr>
              <a:t>Conferir e registrar a retirada dos pedidos.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6254640" y="2331720"/>
            <a:ext cx="2605680" cy="3291480"/>
          </a:xfrm>
          <a:prstGeom prst="roundRect">
            <a:avLst>
              <a:gd name="adj" fmla="val 5614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0"/>
          <p:cNvSpPr/>
          <p:nvPr/>
        </p:nvSpPr>
        <p:spPr>
          <a:xfrm>
            <a:off x="7054560" y="2606040"/>
            <a:ext cx="1005480" cy="1005480"/>
          </a:xfrm>
          <a:prstGeom prst="ellipse">
            <a:avLst/>
          </a:prstGeom>
          <a:solidFill>
            <a:srgbClr val="0f1b2e"/>
          </a:solidFill>
          <a:ln w="317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31"/>
          <p:cNvSpPr/>
          <p:nvPr/>
        </p:nvSpPr>
        <p:spPr>
          <a:xfrm>
            <a:off x="7301520" y="2788920"/>
            <a:ext cx="511560" cy="51156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639180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5f7fa"/>
                </a:solidFill>
                <a:latin typeface="Cambria"/>
                <a:ea typeface="Cambria"/>
              </a:rPr>
              <a:t>Administrador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3"/>
          <p:cNvSpPr/>
          <p:nvPr/>
        </p:nvSpPr>
        <p:spPr>
          <a:xfrm>
            <a:off x="6391800" y="42519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34"/>
          <p:cNvSpPr/>
          <p:nvPr/>
        </p:nvSpPr>
        <p:spPr>
          <a:xfrm>
            <a:off x="6437520" y="466344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fb0c3"/>
                </a:solidFill>
                <a:latin typeface="Calibri"/>
                <a:ea typeface="Calibri"/>
              </a:rPr>
              <a:t>Gerenciar produtos, pedidos e usuários.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35"/>
          <p:cNvSpPr/>
          <p:nvPr/>
        </p:nvSpPr>
        <p:spPr>
          <a:xfrm>
            <a:off x="9061560" y="2331720"/>
            <a:ext cx="2605680" cy="3291480"/>
          </a:xfrm>
          <a:prstGeom prst="roundRect">
            <a:avLst>
              <a:gd name="adj" fmla="val 5614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36"/>
          <p:cNvSpPr/>
          <p:nvPr/>
        </p:nvSpPr>
        <p:spPr>
          <a:xfrm>
            <a:off x="9861840" y="2606040"/>
            <a:ext cx="1005480" cy="1005480"/>
          </a:xfrm>
          <a:prstGeom prst="ellipse">
            <a:avLst/>
          </a:prstGeom>
          <a:solidFill>
            <a:srgbClr val="0f1b2e"/>
          </a:solidFill>
          <a:ln w="317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37"/>
          <p:cNvSpPr/>
          <p:nvPr/>
        </p:nvSpPr>
        <p:spPr>
          <a:xfrm>
            <a:off x="10108800" y="2788920"/>
            <a:ext cx="511560" cy="51156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8"/>
          <p:cNvSpPr/>
          <p:nvPr/>
        </p:nvSpPr>
        <p:spPr>
          <a:xfrm>
            <a:off x="9198720" y="3794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5f7fa"/>
                </a:solidFill>
                <a:latin typeface="Cambria"/>
                <a:ea typeface="Cambria"/>
              </a:rPr>
              <a:t>Aluno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9"/>
          <p:cNvSpPr/>
          <p:nvPr/>
        </p:nvSpPr>
        <p:spPr>
          <a:xfrm>
            <a:off x="9198720" y="42519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0"/>
          <p:cNvSpPr/>
          <p:nvPr/>
        </p:nvSpPr>
        <p:spPr>
          <a:xfrm>
            <a:off x="9244440" y="466344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fb0c3"/>
                </a:solidFill>
                <a:latin typeface="Calibri"/>
                <a:ea typeface="Calibri"/>
              </a:rPr>
              <a:t>Retira o pedido aproximando o cartão NFC.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6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11395080" y="5693040"/>
            <a:ext cx="1279800" cy="1493280"/>
          </a:xfrm>
          <a:prstGeom prst="rect">
            <a:avLst/>
          </a:prstGeom>
          <a:ln w="0">
            <a:noFill/>
          </a:ln>
        </p:spPr>
      </p:pic>
      <p:sp>
        <p:nvSpPr>
          <p:cNvPr id="327" name="Text 41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08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REQUISITOS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f7fa"/>
                </a:solidFill>
                <a:latin typeface="Cambria"/>
                <a:ea typeface="Cambria"/>
              </a:rPr>
              <a:t>O que o sistema precisa fazer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7"/>
          <p:cNvSpPr/>
          <p:nvPr/>
        </p:nvSpPr>
        <p:spPr>
          <a:xfrm>
            <a:off x="640080" y="2240280"/>
            <a:ext cx="5211720" cy="4160160"/>
          </a:xfrm>
          <a:prstGeom prst="roundRect">
            <a:avLst>
              <a:gd name="adj" fmla="val 351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8"/>
          <p:cNvSpPr/>
          <p:nvPr/>
        </p:nvSpPr>
        <p:spPr>
          <a:xfrm>
            <a:off x="914400" y="2468880"/>
            <a:ext cx="2651400" cy="456840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914400" y="246888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22d3ee"/>
                </a:solidFill>
                <a:latin typeface="Calibri"/>
                <a:ea typeface="Calibri"/>
              </a:rPr>
              <a:t>REQUISITOS FUNCIONAIS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20"/>
          <p:cNvSpPr/>
          <p:nvPr/>
        </p:nvSpPr>
        <p:spPr>
          <a:xfrm>
            <a:off x="914400" y="334656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1"/>
          <p:cNvSpPr/>
          <p:nvPr/>
        </p:nvSpPr>
        <p:spPr>
          <a:xfrm>
            <a:off x="1134000" y="32004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Cadastro / login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2"/>
          <p:cNvSpPr/>
          <p:nvPr/>
        </p:nvSpPr>
        <p:spPr>
          <a:xfrm>
            <a:off x="3429000" y="334656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3"/>
          <p:cNvSpPr/>
          <p:nvPr/>
        </p:nvSpPr>
        <p:spPr>
          <a:xfrm>
            <a:off x="3648600" y="32004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Cardápio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4"/>
          <p:cNvSpPr/>
          <p:nvPr/>
        </p:nvSpPr>
        <p:spPr>
          <a:xfrm>
            <a:off x="914400" y="397764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5"/>
          <p:cNvSpPr/>
          <p:nvPr/>
        </p:nvSpPr>
        <p:spPr>
          <a:xfrm>
            <a:off x="1134000" y="38314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Carrinho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26"/>
          <p:cNvSpPr/>
          <p:nvPr/>
        </p:nvSpPr>
        <p:spPr>
          <a:xfrm>
            <a:off x="3429000" y="397764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7"/>
          <p:cNvSpPr/>
          <p:nvPr/>
        </p:nvSpPr>
        <p:spPr>
          <a:xfrm>
            <a:off x="3648600" y="38314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Créditos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8"/>
          <p:cNvSpPr/>
          <p:nvPr/>
        </p:nvSpPr>
        <p:spPr>
          <a:xfrm>
            <a:off x="914400" y="460872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29"/>
          <p:cNvSpPr/>
          <p:nvPr/>
        </p:nvSpPr>
        <p:spPr>
          <a:xfrm>
            <a:off x="1134000" y="44622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Agendamento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30"/>
          <p:cNvSpPr/>
          <p:nvPr/>
        </p:nvSpPr>
        <p:spPr>
          <a:xfrm>
            <a:off x="3429000" y="460872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31"/>
          <p:cNvSpPr/>
          <p:nvPr/>
        </p:nvSpPr>
        <p:spPr>
          <a:xfrm>
            <a:off x="3648600" y="44622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Cancelamento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2"/>
          <p:cNvSpPr/>
          <p:nvPr/>
        </p:nvSpPr>
        <p:spPr>
          <a:xfrm>
            <a:off x="914400" y="523944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33"/>
          <p:cNvSpPr/>
          <p:nvPr/>
        </p:nvSpPr>
        <p:spPr>
          <a:xfrm>
            <a:off x="1134000" y="50932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NFC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34"/>
          <p:cNvSpPr/>
          <p:nvPr/>
        </p:nvSpPr>
        <p:spPr>
          <a:xfrm>
            <a:off x="3429000" y="523944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5"/>
          <p:cNvSpPr/>
          <p:nvPr/>
        </p:nvSpPr>
        <p:spPr>
          <a:xfrm>
            <a:off x="3648600" y="50932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Histórico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36"/>
          <p:cNvSpPr/>
          <p:nvPr/>
        </p:nvSpPr>
        <p:spPr>
          <a:xfrm>
            <a:off x="914400" y="5870520"/>
            <a:ext cx="109440" cy="109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7"/>
          <p:cNvSpPr/>
          <p:nvPr/>
        </p:nvSpPr>
        <p:spPr>
          <a:xfrm>
            <a:off x="1134000" y="57240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Gestão de pedidos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38"/>
          <p:cNvSpPr/>
          <p:nvPr/>
        </p:nvSpPr>
        <p:spPr>
          <a:xfrm>
            <a:off x="6309360" y="2240280"/>
            <a:ext cx="5211720" cy="4160160"/>
          </a:xfrm>
          <a:prstGeom prst="roundRect">
            <a:avLst>
              <a:gd name="adj" fmla="val 351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39"/>
          <p:cNvSpPr/>
          <p:nvPr/>
        </p:nvSpPr>
        <p:spPr>
          <a:xfrm>
            <a:off x="6583680" y="2468880"/>
            <a:ext cx="2651400" cy="456840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0"/>
          <p:cNvSpPr/>
          <p:nvPr/>
        </p:nvSpPr>
        <p:spPr>
          <a:xfrm>
            <a:off x="6583680" y="246888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b020"/>
                </a:solidFill>
                <a:latin typeface="Calibri"/>
                <a:ea typeface="Calibri"/>
              </a:rPr>
              <a:t>REQUISITOS NÃO FUNCIONAIS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41"/>
          <p:cNvSpPr/>
          <p:nvPr/>
        </p:nvSpPr>
        <p:spPr>
          <a:xfrm>
            <a:off x="6583680" y="3346560"/>
            <a:ext cx="109440" cy="10944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42"/>
          <p:cNvSpPr/>
          <p:nvPr/>
        </p:nvSpPr>
        <p:spPr>
          <a:xfrm>
            <a:off x="6803280" y="32004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Segurança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43"/>
          <p:cNvSpPr/>
          <p:nvPr/>
        </p:nvSpPr>
        <p:spPr>
          <a:xfrm>
            <a:off x="9098280" y="3346560"/>
            <a:ext cx="109440" cy="10944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44"/>
          <p:cNvSpPr/>
          <p:nvPr/>
        </p:nvSpPr>
        <p:spPr>
          <a:xfrm>
            <a:off x="9317880" y="32004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Privacidade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46"/>
          <p:cNvSpPr/>
          <p:nvPr/>
        </p:nvSpPr>
        <p:spPr>
          <a:xfrm>
            <a:off x="6803280" y="38314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47"/>
          <p:cNvSpPr/>
          <p:nvPr/>
        </p:nvSpPr>
        <p:spPr>
          <a:xfrm>
            <a:off x="9098280" y="3977640"/>
            <a:ext cx="109440" cy="10944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48"/>
          <p:cNvSpPr/>
          <p:nvPr/>
        </p:nvSpPr>
        <p:spPr>
          <a:xfrm>
            <a:off x="9317880" y="383148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Desempenho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50"/>
          <p:cNvSpPr/>
          <p:nvPr/>
        </p:nvSpPr>
        <p:spPr>
          <a:xfrm>
            <a:off x="6803280" y="44622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51"/>
          <p:cNvSpPr/>
          <p:nvPr/>
        </p:nvSpPr>
        <p:spPr>
          <a:xfrm>
            <a:off x="9098280" y="4608720"/>
            <a:ext cx="109440" cy="109440"/>
          </a:xfrm>
          <a:prstGeom prst="ellipse">
            <a:avLst/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52"/>
          <p:cNvSpPr/>
          <p:nvPr/>
        </p:nvSpPr>
        <p:spPr>
          <a:xfrm>
            <a:off x="9317880" y="4462200"/>
            <a:ext cx="2111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Integridade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9" name="Image 0" descr="/home/claude/cantina/assets/mascote_idle.png"/>
          <p:cNvPicPr/>
          <p:nvPr/>
        </p:nvPicPr>
        <p:blipFill>
          <a:blip r:embed="rId1"/>
          <a:stretch/>
        </p:blipFill>
        <p:spPr>
          <a:xfrm>
            <a:off x="11451960" y="5776200"/>
            <a:ext cx="1188360" cy="1386360"/>
          </a:xfrm>
          <a:prstGeom prst="rect">
            <a:avLst/>
          </a:prstGeom>
          <a:ln w="0">
            <a:noFill/>
          </a:ln>
        </p:spPr>
      </p:pic>
      <p:sp>
        <p:nvSpPr>
          <p:cNvPr id="380" name="Text 53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09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FLUXO DE RETIRADA POR NFC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7fa"/>
                </a:solidFill>
                <a:latin typeface="Cambria"/>
                <a:ea typeface="Cambria"/>
              </a:rPr>
              <a:t>Do cartão ao lanche em 8 passos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7"/>
          <p:cNvSpPr/>
          <p:nvPr/>
        </p:nvSpPr>
        <p:spPr>
          <a:xfrm>
            <a:off x="640080" y="228600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8"/>
          <p:cNvSpPr/>
          <p:nvPr/>
        </p:nvSpPr>
        <p:spPr>
          <a:xfrm>
            <a:off x="804600" y="24505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804600" y="2450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1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20"/>
          <p:cNvSpPr/>
          <p:nvPr/>
        </p:nvSpPr>
        <p:spPr>
          <a:xfrm>
            <a:off x="804600" y="290772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Aluno aproxima a etiqueta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21"/>
          <p:cNvSpPr/>
          <p:nvPr/>
        </p:nvSpPr>
        <p:spPr>
          <a:xfrm>
            <a:off x="3173040" y="289404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22"/>
          <p:cNvSpPr/>
          <p:nvPr/>
        </p:nvSpPr>
        <p:spPr>
          <a:xfrm>
            <a:off x="3337560" y="228600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23"/>
          <p:cNvSpPr/>
          <p:nvPr/>
        </p:nvSpPr>
        <p:spPr>
          <a:xfrm>
            <a:off x="3502080" y="24505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24"/>
          <p:cNvSpPr/>
          <p:nvPr/>
        </p:nvSpPr>
        <p:spPr>
          <a:xfrm>
            <a:off x="3502080" y="2450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2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5"/>
          <p:cNvSpPr/>
          <p:nvPr/>
        </p:nvSpPr>
        <p:spPr>
          <a:xfrm>
            <a:off x="3502080" y="290772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Leitor realiza a leitura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26"/>
          <p:cNvSpPr/>
          <p:nvPr/>
        </p:nvSpPr>
        <p:spPr>
          <a:xfrm>
            <a:off x="5870520" y="289404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7"/>
          <p:cNvSpPr/>
          <p:nvPr/>
        </p:nvSpPr>
        <p:spPr>
          <a:xfrm>
            <a:off x="6035040" y="228600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28"/>
          <p:cNvSpPr/>
          <p:nvPr/>
        </p:nvSpPr>
        <p:spPr>
          <a:xfrm>
            <a:off x="6199560" y="24505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29"/>
          <p:cNvSpPr/>
          <p:nvPr/>
        </p:nvSpPr>
        <p:spPr>
          <a:xfrm>
            <a:off x="6199560" y="2450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3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30"/>
          <p:cNvSpPr/>
          <p:nvPr/>
        </p:nvSpPr>
        <p:spPr>
          <a:xfrm>
            <a:off x="6199560" y="290772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Sistema identifica o aluno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31"/>
          <p:cNvSpPr/>
          <p:nvPr/>
        </p:nvSpPr>
        <p:spPr>
          <a:xfrm>
            <a:off x="8568000" y="289404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32"/>
          <p:cNvSpPr/>
          <p:nvPr/>
        </p:nvSpPr>
        <p:spPr>
          <a:xfrm>
            <a:off x="8732520" y="228600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33"/>
          <p:cNvSpPr/>
          <p:nvPr/>
        </p:nvSpPr>
        <p:spPr>
          <a:xfrm>
            <a:off x="8897040" y="245052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34"/>
          <p:cNvSpPr/>
          <p:nvPr/>
        </p:nvSpPr>
        <p:spPr>
          <a:xfrm>
            <a:off x="8897040" y="2450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mbria"/>
                <a:ea typeface="Cambria"/>
              </a:rPr>
              <a:t>4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35"/>
          <p:cNvSpPr/>
          <p:nvPr/>
        </p:nvSpPr>
        <p:spPr>
          <a:xfrm>
            <a:off x="8897040" y="290772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Sistema consulta os pedidos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36"/>
          <p:cNvSpPr/>
          <p:nvPr/>
        </p:nvSpPr>
        <p:spPr>
          <a:xfrm>
            <a:off x="640080" y="402336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37"/>
          <p:cNvSpPr/>
          <p:nvPr/>
        </p:nvSpPr>
        <p:spPr>
          <a:xfrm>
            <a:off x="804600" y="418788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38"/>
          <p:cNvSpPr/>
          <p:nvPr/>
        </p:nvSpPr>
        <p:spPr>
          <a:xfrm>
            <a:off x="80460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020"/>
                </a:solidFill>
                <a:latin typeface="Cambria"/>
                <a:ea typeface="Cambria"/>
              </a:rPr>
              <a:t>5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9"/>
          <p:cNvSpPr/>
          <p:nvPr/>
        </p:nvSpPr>
        <p:spPr>
          <a:xfrm>
            <a:off x="804600" y="464508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Pedido aparece para o funcionário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40"/>
          <p:cNvSpPr/>
          <p:nvPr/>
        </p:nvSpPr>
        <p:spPr>
          <a:xfrm>
            <a:off x="3173040" y="463140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41"/>
          <p:cNvSpPr/>
          <p:nvPr/>
        </p:nvSpPr>
        <p:spPr>
          <a:xfrm>
            <a:off x="3337560" y="402336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42"/>
          <p:cNvSpPr/>
          <p:nvPr/>
        </p:nvSpPr>
        <p:spPr>
          <a:xfrm>
            <a:off x="3502080" y="418788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43"/>
          <p:cNvSpPr/>
          <p:nvPr/>
        </p:nvSpPr>
        <p:spPr>
          <a:xfrm>
            <a:off x="350208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020"/>
                </a:solidFill>
                <a:latin typeface="Cambria"/>
                <a:ea typeface="Cambria"/>
              </a:rPr>
              <a:t>6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44"/>
          <p:cNvSpPr/>
          <p:nvPr/>
        </p:nvSpPr>
        <p:spPr>
          <a:xfrm>
            <a:off x="3502080" y="464508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Funcionário confere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45"/>
          <p:cNvSpPr/>
          <p:nvPr/>
        </p:nvSpPr>
        <p:spPr>
          <a:xfrm>
            <a:off x="5870520" y="463140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6"/>
          <p:cNvSpPr/>
          <p:nvPr/>
        </p:nvSpPr>
        <p:spPr>
          <a:xfrm>
            <a:off x="6035040" y="402336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47"/>
          <p:cNvSpPr/>
          <p:nvPr/>
        </p:nvSpPr>
        <p:spPr>
          <a:xfrm>
            <a:off x="6199560" y="418788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48"/>
          <p:cNvSpPr/>
          <p:nvPr/>
        </p:nvSpPr>
        <p:spPr>
          <a:xfrm>
            <a:off x="619956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020"/>
                </a:solidFill>
                <a:latin typeface="Cambria"/>
                <a:ea typeface="Cambria"/>
              </a:rPr>
              <a:t>7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49"/>
          <p:cNvSpPr/>
          <p:nvPr/>
        </p:nvSpPr>
        <p:spPr>
          <a:xfrm>
            <a:off x="6199560" y="464508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Pedido é entregue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50"/>
          <p:cNvSpPr/>
          <p:nvPr/>
        </p:nvSpPr>
        <p:spPr>
          <a:xfrm>
            <a:off x="8568000" y="4631400"/>
            <a:ext cx="164160" cy="200880"/>
          </a:xfrm>
          <a:prstGeom prst="chevron">
            <a:avLst>
              <a:gd name="adj" fmla="val 50000"/>
            </a:avLst>
          </a:prstGeom>
          <a:solidFill>
            <a:srgbClr val="9fb0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51"/>
          <p:cNvSpPr/>
          <p:nvPr/>
        </p:nvSpPr>
        <p:spPr>
          <a:xfrm>
            <a:off x="8732520" y="4023360"/>
            <a:ext cx="2514240" cy="1416960"/>
          </a:xfrm>
          <a:prstGeom prst="roundRect">
            <a:avLst>
              <a:gd name="adj" fmla="val 7742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52"/>
          <p:cNvSpPr/>
          <p:nvPr/>
        </p:nvSpPr>
        <p:spPr>
          <a:xfrm>
            <a:off x="8897040" y="4187880"/>
            <a:ext cx="383760" cy="383760"/>
          </a:xfrm>
          <a:prstGeom prst="ellipse">
            <a:avLst/>
          </a:prstGeom>
          <a:solidFill>
            <a:srgbClr val="0f1b2e"/>
          </a:solidFill>
          <a:ln w="1905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53"/>
          <p:cNvSpPr/>
          <p:nvPr/>
        </p:nvSpPr>
        <p:spPr>
          <a:xfrm>
            <a:off x="889704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020"/>
                </a:solidFill>
                <a:latin typeface="Cambria"/>
                <a:ea typeface="Cambria"/>
              </a:rPr>
              <a:t>8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54"/>
          <p:cNvSpPr/>
          <p:nvPr/>
        </p:nvSpPr>
        <p:spPr>
          <a:xfrm>
            <a:off x="8897040" y="464508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alibri"/>
                <a:ea typeface="Calibri"/>
              </a:rPr>
              <a:t>Retirada é registrada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6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11395080" y="5693040"/>
            <a:ext cx="1279800" cy="1493280"/>
          </a:xfrm>
          <a:prstGeom prst="rect">
            <a:avLst/>
          </a:prstGeom>
          <a:ln w="0">
            <a:noFill/>
          </a:ln>
        </p:spPr>
      </p:pic>
      <p:sp>
        <p:nvSpPr>
          <p:cNvPr id="437" name="Text 55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10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4572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1"/>
          <p:cNvSpPr/>
          <p:nvPr/>
        </p:nvSpPr>
        <p:spPr>
          <a:xfrm>
            <a:off x="4572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2"/>
          <p:cNvSpPr/>
          <p:nvPr/>
        </p:nvSpPr>
        <p:spPr>
          <a:xfrm>
            <a:off x="4572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3"/>
          <p:cNvSpPr/>
          <p:nvPr/>
        </p:nvSpPr>
        <p:spPr>
          <a:xfrm>
            <a:off x="65844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4"/>
          <p:cNvSpPr/>
          <p:nvPr/>
        </p:nvSpPr>
        <p:spPr>
          <a:xfrm>
            <a:off x="65844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5"/>
          <p:cNvSpPr/>
          <p:nvPr/>
        </p:nvSpPr>
        <p:spPr>
          <a:xfrm>
            <a:off x="65844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6"/>
          <p:cNvSpPr/>
          <p:nvPr/>
        </p:nvSpPr>
        <p:spPr>
          <a:xfrm>
            <a:off x="85968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7"/>
          <p:cNvSpPr/>
          <p:nvPr/>
        </p:nvSpPr>
        <p:spPr>
          <a:xfrm>
            <a:off x="85968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8"/>
          <p:cNvSpPr/>
          <p:nvPr/>
        </p:nvSpPr>
        <p:spPr>
          <a:xfrm>
            <a:off x="85968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9"/>
          <p:cNvSpPr/>
          <p:nvPr/>
        </p:nvSpPr>
        <p:spPr>
          <a:xfrm>
            <a:off x="106056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0"/>
          <p:cNvSpPr/>
          <p:nvPr/>
        </p:nvSpPr>
        <p:spPr>
          <a:xfrm>
            <a:off x="106056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1"/>
          <p:cNvSpPr/>
          <p:nvPr/>
        </p:nvSpPr>
        <p:spPr>
          <a:xfrm>
            <a:off x="106056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2"/>
          <p:cNvSpPr/>
          <p:nvPr/>
        </p:nvSpPr>
        <p:spPr>
          <a:xfrm>
            <a:off x="1261800" y="41148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3"/>
          <p:cNvSpPr/>
          <p:nvPr/>
        </p:nvSpPr>
        <p:spPr>
          <a:xfrm>
            <a:off x="1261800" y="61272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14"/>
          <p:cNvSpPr/>
          <p:nvPr/>
        </p:nvSpPr>
        <p:spPr>
          <a:xfrm>
            <a:off x="1261800" y="813960"/>
            <a:ext cx="36360" cy="3636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5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b020"/>
                </a:solidFill>
                <a:latin typeface="Calibri"/>
                <a:ea typeface="Calibri"/>
              </a:rPr>
              <a:t>CONCLUSÃO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16"/>
          <p:cNvSpPr/>
          <p:nvPr/>
        </p:nvSpPr>
        <p:spPr>
          <a:xfrm>
            <a:off x="640080" y="7772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Cambria"/>
                <a:ea typeface="Cambria"/>
              </a:rPr>
              <a:t>Mais organização, menos filas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7"/>
          <p:cNvSpPr/>
          <p:nvPr/>
        </p:nvSpPr>
        <p:spPr>
          <a:xfrm>
            <a:off x="640080" y="2331720"/>
            <a:ext cx="2514240" cy="822600"/>
          </a:xfrm>
          <a:prstGeom prst="roundRect">
            <a:avLst>
              <a:gd name="adj" fmla="val 1555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18"/>
          <p:cNvSpPr/>
          <p:nvPr/>
        </p:nvSpPr>
        <p:spPr>
          <a:xfrm>
            <a:off x="640080" y="233172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f7fa"/>
                </a:solidFill>
                <a:latin typeface="Calibri"/>
                <a:ea typeface="Calibri"/>
              </a:rPr>
              <a:t>Responsável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19"/>
          <p:cNvSpPr/>
          <p:nvPr/>
        </p:nvSpPr>
        <p:spPr>
          <a:xfrm>
            <a:off x="3173040" y="2624400"/>
            <a:ext cx="219240" cy="237240"/>
          </a:xfrm>
          <a:prstGeom prst="chevron">
            <a:avLst>
              <a:gd name="adj" fmla="val 50000"/>
            </a:avLst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0"/>
          <p:cNvSpPr/>
          <p:nvPr/>
        </p:nvSpPr>
        <p:spPr>
          <a:xfrm>
            <a:off x="3410640" y="2331720"/>
            <a:ext cx="2514240" cy="822600"/>
          </a:xfrm>
          <a:prstGeom prst="roundRect">
            <a:avLst>
              <a:gd name="adj" fmla="val 1555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21"/>
          <p:cNvSpPr/>
          <p:nvPr/>
        </p:nvSpPr>
        <p:spPr>
          <a:xfrm>
            <a:off x="3410640" y="233172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f7fa"/>
                </a:solidFill>
                <a:latin typeface="Calibri"/>
                <a:ea typeface="Calibri"/>
              </a:rPr>
              <a:t>Créditos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22"/>
          <p:cNvSpPr/>
          <p:nvPr/>
        </p:nvSpPr>
        <p:spPr>
          <a:xfrm>
            <a:off x="5943600" y="2624400"/>
            <a:ext cx="219240" cy="237240"/>
          </a:xfrm>
          <a:prstGeom prst="chevron">
            <a:avLst>
              <a:gd name="adj" fmla="val 50000"/>
            </a:avLst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3"/>
          <p:cNvSpPr/>
          <p:nvPr/>
        </p:nvSpPr>
        <p:spPr>
          <a:xfrm>
            <a:off x="6181200" y="2331720"/>
            <a:ext cx="2514240" cy="822600"/>
          </a:xfrm>
          <a:prstGeom prst="roundRect">
            <a:avLst>
              <a:gd name="adj" fmla="val 15556"/>
            </a:avLst>
          </a:prstGeom>
          <a:solidFill>
            <a:srgbClr val="13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24"/>
          <p:cNvSpPr/>
          <p:nvPr/>
        </p:nvSpPr>
        <p:spPr>
          <a:xfrm>
            <a:off x="6181200" y="233172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f7fa"/>
                </a:solidFill>
                <a:latin typeface="Calibri"/>
                <a:ea typeface="Calibri"/>
              </a:rPr>
              <a:t>Pedido agendado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25"/>
          <p:cNvSpPr/>
          <p:nvPr/>
        </p:nvSpPr>
        <p:spPr>
          <a:xfrm>
            <a:off x="8714160" y="2624400"/>
            <a:ext cx="219240" cy="237240"/>
          </a:xfrm>
          <a:prstGeom prst="chevron">
            <a:avLst>
              <a:gd name="adj" fmla="val 50000"/>
            </a:avLst>
          </a:prstGeom>
          <a:solidFill>
            <a:srgbClr val="ffb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6"/>
          <p:cNvSpPr/>
          <p:nvPr/>
        </p:nvSpPr>
        <p:spPr>
          <a:xfrm>
            <a:off x="8952120" y="2331720"/>
            <a:ext cx="2514240" cy="822600"/>
          </a:xfrm>
          <a:prstGeom prst="roundRect">
            <a:avLst>
              <a:gd name="adj" fmla="val 1555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7"/>
          <p:cNvSpPr/>
          <p:nvPr/>
        </p:nvSpPr>
        <p:spPr>
          <a:xfrm>
            <a:off x="8952120" y="233172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220"/>
                </a:solidFill>
                <a:latin typeface="Calibri"/>
                <a:ea typeface="Calibri"/>
              </a:rPr>
              <a:t>Retirada por NFC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28"/>
          <p:cNvSpPr/>
          <p:nvPr/>
        </p:nvSpPr>
        <p:spPr>
          <a:xfrm>
            <a:off x="685800" y="3639240"/>
            <a:ext cx="127800" cy="12780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29"/>
          <p:cNvSpPr/>
          <p:nvPr/>
        </p:nvSpPr>
        <p:spPr>
          <a:xfrm>
            <a:off x="960120" y="34930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Mais organização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30"/>
          <p:cNvSpPr/>
          <p:nvPr/>
        </p:nvSpPr>
        <p:spPr>
          <a:xfrm>
            <a:off x="685800" y="4096440"/>
            <a:ext cx="127800" cy="12780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1"/>
          <p:cNvSpPr/>
          <p:nvPr/>
        </p:nvSpPr>
        <p:spPr>
          <a:xfrm>
            <a:off x="960120" y="39502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Menos filas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32"/>
          <p:cNvSpPr/>
          <p:nvPr/>
        </p:nvSpPr>
        <p:spPr>
          <a:xfrm>
            <a:off x="685800" y="4553640"/>
            <a:ext cx="127800" cy="12780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33"/>
          <p:cNvSpPr/>
          <p:nvPr/>
        </p:nvSpPr>
        <p:spPr>
          <a:xfrm>
            <a:off x="960120" y="4407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Mais controle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34"/>
          <p:cNvSpPr/>
          <p:nvPr/>
        </p:nvSpPr>
        <p:spPr>
          <a:xfrm>
            <a:off x="685800" y="5010840"/>
            <a:ext cx="127800" cy="12780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5"/>
          <p:cNvSpPr/>
          <p:nvPr/>
        </p:nvSpPr>
        <p:spPr>
          <a:xfrm>
            <a:off x="960120" y="48646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Retirada mais rápida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36"/>
          <p:cNvSpPr/>
          <p:nvPr/>
        </p:nvSpPr>
        <p:spPr>
          <a:xfrm>
            <a:off x="685800" y="5468040"/>
            <a:ext cx="127800" cy="12780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37"/>
          <p:cNvSpPr/>
          <p:nvPr/>
        </p:nvSpPr>
        <p:spPr>
          <a:xfrm>
            <a:off x="960120" y="53218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7fa"/>
                </a:solidFill>
                <a:latin typeface="Calibri"/>
                <a:ea typeface="Calibri"/>
              </a:rPr>
              <a:t>Redução de erros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38"/>
          <p:cNvSpPr/>
          <p:nvPr/>
        </p:nvSpPr>
        <p:spPr>
          <a:xfrm>
            <a:off x="6583680" y="3566160"/>
            <a:ext cx="4937400" cy="2468520"/>
          </a:xfrm>
          <a:prstGeom prst="roundRect">
            <a:avLst>
              <a:gd name="adj" fmla="val 5926"/>
            </a:avLst>
          </a:prstGeom>
          <a:solidFill>
            <a:srgbClr val="13233b"/>
          </a:solidFill>
          <a:ln w="190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39"/>
          <p:cNvSpPr/>
          <p:nvPr/>
        </p:nvSpPr>
        <p:spPr>
          <a:xfrm>
            <a:off x="6858000" y="3749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8" strike="noStrike">
                <a:solidFill>
                  <a:srgbClr val="ffb020"/>
                </a:solidFill>
                <a:latin typeface="Calibri"/>
                <a:ea typeface="Calibri"/>
              </a:rPr>
              <a:t>PRÓXIMOS PASSOS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40"/>
          <p:cNvSpPr/>
          <p:nvPr/>
        </p:nvSpPr>
        <p:spPr>
          <a:xfrm>
            <a:off x="6858000" y="41605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•  </a:t>
            </a: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Notificações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1"/>
          <p:cNvSpPr/>
          <p:nvPr/>
        </p:nvSpPr>
        <p:spPr>
          <a:xfrm>
            <a:off x="6858000" y="45720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•  </a:t>
            </a: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Controle de estoque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42"/>
          <p:cNvSpPr/>
          <p:nvPr/>
        </p:nvSpPr>
        <p:spPr>
          <a:xfrm>
            <a:off x="6858000" y="4983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•  </a:t>
            </a:r>
            <a:r>
              <a:rPr b="0" lang="en-US" sz="1300" spc="-1" strike="noStrike">
                <a:solidFill>
                  <a:srgbClr val="9fb0c3"/>
                </a:solidFill>
                <a:latin typeface="Calibri"/>
                <a:ea typeface="Calibri"/>
              </a:rPr>
              <a:t>Relatórios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1" name="Image 0" descr="/home/claude/cantina/assets/mascote_pull.png"/>
          <p:cNvPicPr/>
          <p:nvPr/>
        </p:nvPicPr>
        <p:blipFill>
          <a:blip r:embed="rId1"/>
          <a:stretch/>
        </p:blipFill>
        <p:spPr>
          <a:xfrm>
            <a:off x="11338560" y="5609880"/>
            <a:ext cx="1371240" cy="1599840"/>
          </a:xfrm>
          <a:prstGeom prst="rect">
            <a:avLst/>
          </a:prstGeom>
          <a:ln w="0">
            <a:noFill/>
          </a:ln>
        </p:spPr>
      </p:pic>
      <p:sp>
        <p:nvSpPr>
          <p:cNvPr id="482" name="Text 43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11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0"/>
          <p:cNvSpPr/>
          <p:nvPr/>
        </p:nvSpPr>
        <p:spPr>
          <a:xfrm>
            <a:off x="8412480" y="-1828800"/>
            <a:ext cx="5943240" cy="5943240"/>
          </a:xfrm>
          <a:prstGeom prst="ellipse">
            <a:avLst/>
          </a:prstGeom>
          <a:solidFill>
            <a:srgbClr val="0e749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1"/>
          <p:cNvSpPr/>
          <p:nvPr/>
        </p:nvSpPr>
        <p:spPr>
          <a:xfrm>
            <a:off x="-2377440" y="3840480"/>
            <a:ext cx="5120280" cy="5120280"/>
          </a:xfrm>
          <a:prstGeom prst="ellipse">
            <a:avLst/>
          </a:prstGeom>
          <a:solidFill>
            <a:srgbClr val="ffb020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822960" y="2286000"/>
            <a:ext cx="7314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5f7fa"/>
                </a:solidFill>
                <a:latin typeface="Cambria"/>
                <a:ea typeface="Cambria"/>
              </a:rPr>
              <a:t>Obrigado!</a:t>
            </a:r>
            <a:endParaRPr b="0" lang="pt-BR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822960" y="333756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22d3ee"/>
                </a:solidFill>
                <a:latin typeface="Cambria"/>
                <a:ea typeface="Cambria"/>
              </a:rPr>
              <a:t>Alguma dúvida?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868680" y="4160520"/>
            <a:ext cx="2926080" cy="360"/>
          </a:xfrm>
          <a:prstGeom prst="line">
            <a:avLst/>
          </a:prstGeom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822960" y="434340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fb0c3"/>
                </a:solidFill>
                <a:latin typeface="Calibri"/>
                <a:ea typeface="Calibri"/>
              </a:rPr>
              <a:t>Sistema de Agendamento e Retirada de Pedidos para Cantina Escolar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fb0c3"/>
                </a:solidFill>
                <a:latin typeface="Calibri"/>
                <a:ea typeface="Calibri"/>
              </a:rPr>
              <a:t>Fernando da Rosa · Lucas Vianna · Guilherme Roesler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8778240" y="2743200"/>
            <a:ext cx="2651400" cy="1737000"/>
          </a:xfrm>
          <a:prstGeom prst="roundRect">
            <a:avLst>
              <a:gd name="adj" fmla="val 9474"/>
            </a:avLst>
          </a:prstGeom>
          <a:solidFill>
            <a:srgbClr val="13233b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7"/>
          <p:cNvSpPr/>
          <p:nvPr/>
        </p:nvSpPr>
        <p:spPr>
          <a:xfrm>
            <a:off x="9738360" y="3154680"/>
            <a:ext cx="731160" cy="731160"/>
          </a:xfrm>
          <a:prstGeom prst="ellipse">
            <a:avLst/>
          </a:prstGeom>
          <a:noFill/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8"/>
          <p:cNvSpPr/>
          <p:nvPr/>
        </p:nvSpPr>
        <p:spPr>
          <a:xfrm>
            <a:off x="9893880" y="3310200"/>
            <a:ext cx="420120" cy="420120"/>
          </a:xfrm>
          <a:prstGeom prst="ellipse">
            <a:avLst/>
          </a:prstGeom>
          <a:noFill/>
          <a:ln w="25400">
            <a:solidFill>
              <a:srgbClr val="ffb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2" name="Image 0" descr="/home/claude/cantina/assets/mascote_fall.png"/>
          <p:cNvPicPr/>
          <p:nvPr/>
        </p:nvPicPr>
        <p:blipFill>
          <a:blip r:embed="rId1"/>
          <a:stretch/>
        </p:blipFill>
        <p:spPr>
          <a:xfrm>
            <a:off x="-274320" y="5029200"/>
            <a:ext cx="1737000" cy="2026440"/>
          </a:xfrm>
          <a:prstGeom prst="rect">
            <a:avLst/>
          </a:prstGeom>
          <a:ln w="0">
            <a:noFill/>
          </a:ln>
        </p:spPr>
      </p:pic>
      <p:sp>
        <p:nvSpPr>
          <p:cNvPr id="493" name="Text 9"/>
          <p:cNvSpPr/>
          <p:nvPr/>
        </p:nvSpPr>
        <p:spPr>
          <a:xfrm>
            <a:off x="1127448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fb0c3"/>
                </a:solidFill>
                <a:latin typeface="Calibri"/>
                <a:ea typeface="Calibri"/>
              </a:rPr>
              <a:t>12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2026-09-22T20:45:46Z</dcterms:created>
  <dc:creator>PptxGenJS</dc:creator>
  <dc:description/>
  <dc:language>pt-BR</dc:language>
  <cp:lastModifiedBy/>
  <dcterms:modified xsi:type="dcterms:W3CDTF">2026-09-23T20:49:31Z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